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A4E3"/>
                </a:solidFill>
                <a:latin typeface="Malgun Gothic"/>
              </a:rPr>
              <a:t>JB금융그룹 Fin:AI Challenge  ·  지정주제 1 — 개인 라이프케어 AI(LifeLong WM)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Malgun Gothic"/>
              </a:rPr>
              <a:t>평생곁에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EAF1FA"/>
                </a:solidFill>
                <a:latin typeface="Malgun Gothic"/>
              </a:rPr>
              <a:t>지방 고령 고객 </a:t>
            </a:r>
            <a:r>
              <a:rPr sz="2000" b="1">
                <a:solidFill>
                  <a:srgbClr val="F6A23B"/>
                </a:solidFill>
                <a:latin typeface="Malgun Gothic"/>
              </a:rPr>
              <a:t>자산 방어(Wealth Defense)</a:t>
            </a:r>
            <a:r>
              <a:rPr sz="2000" b="0">
                <a:solidFill>
                  <a:srgbClr val="EAF1FA"/>
                </a:solidFill>
                <a:latin typeface="Malgun Gothic"/>
              </a:rPr>
              <a:t> AI 에이전트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10515600" cy="91440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0A6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</a:rPr>
              <a:t>“검찰 사칭 전화. 송금 버튼 직전 30초. 은행이 먼저 끼어든다.”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7ADCA"/>
                </a:solidFill>
                <a:latin typeface="Malgun Gothic"/>
              </a:rPr>
              <a:t>Wealth Management  →  Wealth </a:t>
            </a:r>
            <a:r>
              <a:rPr sz="1600" b="1">
                <a:solidFill>
                  <a:srgbClr val="F6A23B"/>
                </a:solidFill>
                <a:latin typeface="Malgun Gothic"/>
              </a:rPr>
              <a:t>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팀 골든타임 · 개인 참가(가상용)  |  JB금융그룹 · 전북은행 · 전북·전남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02  BACKGROUND ·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네 개의 압력이 </a:t>
            </a:r>
            <a:r>
              <a:rPr sz="3400" b="1">
                <a:solidFill>
                  <a:srgbClr val="2AA4E3"/>
                </a:solidFill>
                <a:latin typeface="Malgun Gothic"/>
              </a:rPr>
              <a:t>전북·전남에 동시에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2606040" cy="219456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초고령화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2AA4E3"/>
                </a:solidFill>
                <a:latin typeface="Malgun Gothic"/>
              </a:rPr>
              <a:t>30.6%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전남 고령화율 · 전국 1위 (전북 25.4%)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286000"/>
            <a:ext cx="2606040" cy="219456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점포 소멸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F5A4D"/>
                </a:solidFill>
                <a:latin typeface="Malgun Gothic"/>
              </a:rPr>
              <a:t>−23.4%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전북 은행 점포 (2011→2023)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2286000"/>
            <a:ext cx="2606040" cy="219456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디지털 장벽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6A23B"/>
                </a:solidFill>
                <a:latin typeface="Malgun Gothic"/>
              </a:rPr>
              <a:t>55.3%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고령층 디지털 역량 (NIA 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7696" y="2286000"/>
            <a:ext cx="2606040" cy="219456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표적 사기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F5A4D"/>
                </a:solidFill>
                <a:latin typeface="Malgun Gothic"/>
              </a:rPr>
              <a:t>5배 ↑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60대 보이스피싱 10년새 · 기관사칭 51%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6A23B"/>
                </a:solidFill>
                <a:latin typeface="Malgun Gothic"/>
              </a:rPr>
              <a:t>🛡  </a:t>
            </a:r>
            <a:r>
              <a:rPr sz="1400" b="0">
                <a:solidFill>
                  <a:srgbClr val="EAF1FA"/>
                </a:solidFill>
                <a:latin typeface="Malgun Gothic"/>
              </a:rPr>
              <a:t>그리고 그곳이 곧 JB의 핵심 영업권이다.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03  PROBLEM · 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“불릴 자산을 잃으면, </a:t>
            </a:r>
            <a:r>
              <a:rPr sz="3400" b="1">
                <a:solidFill>
                  <a:srgbClr val="F6A23B"/>
                </a:solidFill>
                <a:latin typeface="Malgun Gothic"/>
              </a:rPr>
              <a:t>관리할 자산도 없다”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7ADCA"/>
                </a:solidFill>
                <a:latin typeface="Malgun Gothic"/>
              </a:rPr>
              <a:t>세상의 WM은 자산을 ‘불려주는’ 서비스다. 그러나 지방 고령층의 진짜 문제는 ‘가진 걸 잃는 것’.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3520440" cy="237744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AA4E3"/>
                </a:solidFill>
                <a:latin typeface="Malgun Gothic"/>
              </a:rPr>
              <a:t>기존 은행 FDS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평균 룰(고액·심야) — </a:t>
            </a:r>
            <a:r>
              <a:rPr sz="1300" b="1">
                <a:solidFill>
                  <a:srgbClr val="FF5A4D"/>
                </a:solidFill>
                <a:latin typeface="Malgun Gothic"/>
              </a:rPr>
              <a:t>이 사람의 평소를 모름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97ADCA"/>
                </a:solidFill>
                <a:latin typeface="Malgun Gothic"/>
              </a:rPr>
              <a:t>대체로 사후 통보(이미 나간 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520440" cy="237744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AA4E3"/>
                </a:solidFill>
                <a:latin typeface="Malgun Gothic"/>
              </a:rPr>
              <a:t>챗봇·앱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물어봐야 답함 — </a:t>
            </a:r>
            <a:r>
              <a:rPr sz="1300" b="1">
                <a:solidFill>
                  <a:srgbClr val="FF5A4D"/>
                </a:solidFill>
                <a:latin typeface="Malgun Gothic"/>
              </a:rPr>
              <a:t>고령층은 못 물음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97ADCA"/>
                </a:solidFill>
                <a:latin typeface="Malgun Gothic"/>
              </a:rPr>
              <a:t>선제성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651760"/>
            <a:ext cx="3520440" cy="237744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AA4E3"/>
                </a:solidFill>
                <a:latin typeface="Malgun Gothic"/>
              </a:rPr>
              <a:t>로보어드바이저·WM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증식 중심 — </a:t>
            </a:r>
            <a:r>
              <a:rPr sz="1300" b="1">
                <a:solidFill>
                  <a:srgbClr val="FF5A4D"/>
                </a:solidFill>
                <a:latin typeface="Malgun Gothic"/>
              </a:rPr>
              <a:t>‘안 잃는 법’은 안 다룸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97ADCA"/>
                </a:solidFill>
                <a:latin typeface="Malgun Gothic"/>
              </a:rPr>
              <a:t>은퇴자 방어 공백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6A23B"/>
                </a:solidFill>
                <a:latin typeface="Malgun Gothic"/>
              </a:rPr>
              <a:t>🛡  </a:t>
            </a:r>
            <a:r>
              <a:rPr sz="1400" b="0">
                <a:solidFill>
                  <a:srgbClr val="EAF1FA"/>
                </a:solidFill>
                <a:latin typeface="Malgun Gothic"/>
              </a:rPr>
              <a:t>필요한 건 ① 개인화  ② 선제(송금 직전)  ③ 고령 친화 — 셋을 한꺼번에.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04  SOLUTION · 솔루션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대화와 거래를 함께 지켜보는 </a:t>
            </a:r>
            <a:r>
              <a:rPr sz="3000" b="1">
                <a:solidFill>
                  <a:srgbClr val="2AA4E3"/>
                </a:solidFill>
                <a:latin typeface="Malgun Gothic"/>
              </a:rPr>
              <a:t>선제적 자산 방어 에이전트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2468880" cy="182880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AA4E3"/>
                </a:solidFill>
                <a:latin typeface="Malgun Gothic"/>
              </a:rPr>
              <a:t>입력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음성·텍스트 대화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거래 이벤트(은행 고유)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7ADCA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468880"/>
            <a:ext cx="2468880" cy="182880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AA4E3"/>
                </a:solidFill>
                <a:latin typeface="Malgun Gothic"/>
              </a:rPr>
              <a:t>AI Agent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plan → tool →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self-check(critic)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F6A23B"/>
                </a:solidFill>
                <a:latin typeface="Malgun Gothic"/>
              </a:rPr>
              <a:t>+ 선제 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7ADCA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468880"/>
            <a:ext cx="2468880" cy="182880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AA4E3"/>
                </a:solidFill>
                <a:latin typeface="Malgun Gothic"/>
              </a:rPr>
              <a:t>도구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사기방어 · RAG케어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선제알림 · 가족연계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7ADCA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468880"/>
            <a:ext cx="2377440" cy="182880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AA4E3"/>
                </a:solidFill>
                <a:latin typeface="Malgun Gothic"/>
              </a:rPr>
              <a:t>가드레일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근거 없으면 사람 연결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사기면 송금 멈춤 우선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6A23B"/>
                </a:solidFill>
                <a:latin typeface="Malgun Gothic"/>
              </a:rPr>
              <a:t>🛡  </a:t>
            </a:r>
            <a:r>
              <a:rPr sz="1400" b="0">
                <a:solidFill>
                  <a:srgbClr val="EAF1FA"/>
                </a:solidFill>
                <a:latin typeface="Malgun Gothic"/>
              </a:rPr>
              <a:t>“이 어르신답지 않은 거래를, 송금 직전에, 은행이 먼저 멈춘다.”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05  HOW IT WORKS · 작동 원리 (실제 기술)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새 인프라가 아니다 — </a:t>
            </a:r>
            <a:r>
              <a:rPr sz="2800" b="1">
                <a:solidFill>
                  <a:srgbClr val="2AA4E3"/>
                </a:solidFill>
                <a:latin typeface="Malgun Gothic"/>
              </a:rPr>
              <a:t>은행이 가진 채널에 개인화를 얹는다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3520440" cy="210312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6A23B"/>
                </a:solidFill>
                <a:latin typeface="Malgun Gothic"/>
              </a:rPr>
              <a:t>① 거래 차단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이체중계 단에서 FDS 실시간 호출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FD27A"/>
                </a:solidFill>
                <a:latin typeface="Malgun Gothic"/>
              </a:rPr>
              <a:t>룰+z-score 엔진 ~20ms </a:t>
            </a:r>
            <a:r>
              <a:rPr sz="1200" b="0">
                <a:solidFill>
                  <a:srgbClr val="97ADCA"/>
                </a:solidFill>
                <a:latin typeface="Malgun Gothic"/>
              </a:rPr>
              <a:t>(LLM 아님)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→ 지연이체 제도로 보류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520440" cy="210312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6A23B"/>
                </a:solidFill>
                <a:latin typeface="Malgun Gothic"/>
              </a:rPr>
              <a:t>② 다채널 선제 개입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앱 푸시(FCM/APNs)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카카오 알림톡 · SMS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AICC 아웃바운드 ARS + TTS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286000"/>
            <a:ext cx="3520440" cy="210312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6A23B"/>
                </a:solidFill>
                <a:latin typeface="Malgun Gothic"/>
              </a:rPr>
              <a:t>③ 온프레미스 케어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RAG + sLLM, 데이터 안 나감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쉬운말 + 음성(STT/TTS)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가드레일(환각 차단)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617720"/>
            <a:ext cx="10561320" cy="86868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0A6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★ ARS 개입은 2024 FDS 가이드라인이 ‘의심거래 시 아웃바운드 콜’로 권고하는 바로 그것 — 새 전화망이 아니라 은행 AICC에 EXAONE 문구·TTS를 얹는다.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06  HERO · 송금 직전 30초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같은 300만원, </a:t>
            </a:r>
            <a:r>
              <a:rPr sz="3400" b="1">
                <a:solidFill>
                  <a:srgbClr val="F6A23B"/>
                </a:solidFill>
                <a:latin typeface="Malgun Gothic"/>
              </a:rPr>
              <a:t>다른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7ADCA"/>
                </a:solidFill>
                <a:latin typeface="Malgun Gothic"/>
              </a:rPr>
              <a:t>금액이 아니라 ‘이 어르신다움’으로 판단한다. (2층 FDS + 수취계좌 평판)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5212080" cy="265176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FD27A"/>
                </a:solidFill>
                <a:latin typeface="Malgun Gothic"/>
              </a:rPr>
              <a:t>박OO 어르신 (71)</a:t>
            </a:r>
          </a:p>
          <a:p>
            <a:pPr>
              <a:spcAft>
                <a:spcPts val="300"/>
              </a:spcAft>
            </a:pPr>
            <a:r>
              <a:rPr sz="3000" b="1">
                <a:solidFill>
                  <a:srgbClr val="2FD27A"/>
                </a:solidFill>
                <a:latin typeface="Malgun Gothic"/>
              </a:rPr>
              <a:t>안전 🟢  score 0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평소 250만·300만도 보내던 분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97ADCA"/>
                </a:solidFill>
                <a:latin typeface="Malgun Gothic"/>
              </a:rPr>
              <a:t>→ 이탈 신호 없음, 통과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651760"/>
            <a:ext cx="5440680" cy="265176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5A4D"/>
                </a:solidFill>
                <a:latin typeface="Malgun Gothic"/>
              </a:rPr>
              <a:t>김OO 어르신 (73)</a:t>
            </a:r>
          </a:p>
          <a:p>
            <a:pPr>
              <a:spcAft>
                <a:spcPts val="300"/>
              </a:spcAft>
            </a:pPr>
            <a:r>
              <a:rPr sz="3000" b="1">
                <a:solidFill>
                  <a:srgbClr val="FF5A4D"/>
                </a:solidFill>
                <a:latin typeface="Malgun Gothic"/>
              </a:rPr>
              <a:t>위험 🔴  score 100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낯선 ‘안전계좌’ · z=66 · 사기이력 계좌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97ADCA"/>
                </a:solidFill>
                <a:latin typeface="Malgun Gothic"/>
              </a:rPr>
              <a:t>→ 1층 룰+2층 베이스라인+계좌평판 = 차단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6A23B"/>
                </a:solidFill>
                <a:latin typeface="Malgun Gothic"/>
              </a:rPr>
              <a:t>🛡  </a:t>
            </a:r>
            <a:r>
              <a:rPr sz="1400" b="0">
                <a:solidFill>
                  <a:srgbClr val="EAF1FA"/>
                </a:solidFill>
                <a:latin typeface="Malgun Gothic"/>
              </a:rPr>
              <a:t>평소 패턴이 있는 사람은 통과, 평생 처음 보는 계좌는 차단 — 개인화 방어.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07  CARE · 쉬운말 자산 케어 + 가드레일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근거 없으면 </a:t>
            </a:r>
            <a:r>
              <a:rPr sz="3400" b="1">
                <a:solidFill>
                  <a:srgbClr val="2AA4E3"/>
                </a:solidFill>
                <a:latin typeface="Malgun Gothic"/>
              </a:rPr>
              <a:t>지어내지 않는다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3520440" cy="210312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AA4E3"/>
                </a:solidFill>
                <a:latin typeface="Malgun Gothic"/>
              </a:rPr>
              <a:t>하이브리드 RAG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BM25+BGE-M3+RRF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근거 인용 답변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F6A23B"/>
                </a:solidFill>
                <a:latin typeface="Malgun Gothic"/>
              </a:rPr>
              <a:t>전북은행 실상품 포함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520440" cy="210312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AA4E3"/>
                </a:solidFill>
                <a:latin typeface="Malgun Gothic"/>
              </a:rPr>
              <a:t>환각 방지 가드레일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근거 약하면 LLM 미호출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“비트코인?” → 상담사 연결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FD27A"/>
                </a:solidFill>
                <a:latin typeface="Malgun Gothic"/>
              </a:rPr>
              <a:t>지어내지 않음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377440"/>
            <a:ext cx="3520440" cy="210312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AA4E3"/>
                </a:solidFill>
                <a:latin typeface="Malgun Gothic"/>
              </a:rPr>
              <a:t>간이 정확도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FD27A"/>
                </a:solidFill>
                <a:latin typeface="Malgun Gothic"/>
              </a:rPr>
              <a:t>응답·인용 100%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2FD27A"/>
                </a:solidFill>
                <a:latin typeface="Malgun Gothic"/>
              </a:rPr>
              <a:t>가드레일 거부 100%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(표본 12문항)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6A23B"/>
                </a:solidFill>
                <a:latin typeface="Malgun Gothic"/>
              </a:rPr>
              <a:t>🛡  </a:t>
            </a:r>
            <a:r>
              <a:rPr sz="1400" b="0">
                <a:solidFill>
                  <a:srgbClr val="EAF1FA"/>
                </a:solidFill>
                <a:latin typeface="Malgun Gothic"/>
              </a:rPr>
              <a:t>금융에서 가장 위험한 건 그럴싸한 거짓말 — 근거로만 답한다.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08  BANK VALUE · 은행도 LLM을 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본부 </a:t>
            </a:r>
            <a:r>
              <a:rPr sz="3400" b="1">
                <a:solidFill>
                  <a:srgbClr val="2AA4E3"/>
                </a:solidFill>
                <a:latin typeface="Malgun Gothic"/>
              </a:rPr>
              <a:t>관제 AI 브리핑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7ADCA"/>
                </a:solidFill>
                <a:latin typeface="Malgun Gothic"/>
              </a:rPr>
              <a:t>같은 EXAONE이 고객용(케어)과 은행 직원용(관제 브리핑) 양쪽을 커버한다.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10561320" cy="219456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6A23B"/>
                </a:solidFill>
                <a:latin typeface="Malgun Gothic"/>
              </a:rPr>
              <a:t>차단 로그 →  EXAONE 자동 요약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EAF1FA"/>
                </a:solidFill>
                <a:latin typeface="Malgun Gothic"/>
              </a:rPr>
              <a:t>“오늘 정읍·군산 기관사칭 차단 5건, ₩2,300만 방어. 사기이력 계좌 1건. </a:t>
            </a:r>
          </a:p>
          <a:p>
            <a:pPr>
              <a:spcAft>
                <a:spcPts val="300"/>
              </a:spcAft>
            </a:pPr>
            <a:r>
              <a:rPr sz="1350" b="0">
                <a:solidFill>
                  <a:srgbClr val="EAF1FA"/>
                </a:solidFill>
                <a:latin typeface="Malgun Gothic"/>
              </a:rPr>
              <a:t> 권고: 해당 지역 고령 고객에게 보이스피싱 주의 알림 발송.”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97ADCA"/>
                </a:solidFill>
                <a:latin typeface="Malgun Gothic"/>
              </a:rPr>
              <a:t>로그의 숫자·지역·사유만 사용(환각 방지) · 단순·반복 보고를 AI가 초안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6A23B"/>
                </a:solidFill>
                <a:latin typeface="Malgun Gothic"/>
              </a:rPr>
              <a:t>🛡  </a:t>
            </a:r>
            <a:r>
              <a:rPr sz="1400" b="0">
                <a:solidFill>
                  <a:srgbClr val="EAF1FA"/>
                </a:solidFill>
                <a:latin typeface="Malgun Gothic"/>
              </a:rPr>
              <a:t>JB가 실제 운영에 쓸 도구 — 사용자 보호를 넘어 본부 관제까지.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09  TECH · 데이터 · 기술 · 라이선스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Malgun Gothic"/>
              </a:rPr>
              <a:t>온프레미스로, </a:t>
            </a:r>
            <a:r>
              <a:rPr sz="2800" b="1">
                <a:solidFill>
                  <a:srgbClr val="2AA4E3"/>
                </a:solidFill>
                <a:latin typeface="Malgun Gothic"/>
              </a:rPr>
              <a:t>데이터는 은행 밖으로 안 나간다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3520440" cy="155448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검색·RAG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BM25 + BGE-M3 + RRF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가드레일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520440" cy="155448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사기 방어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룰 + z-score 베이스라인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+ 수취계좌 평판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194560"/>
            <a:ext cx="3520440" cy="155448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모델 (LLM)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AF1FA"/>
                </a:solidFill>
                <a:latin typeface="Malgun Gothic"/>
              </a:rPr>
              <a:t>PoC = EXAONE (무료)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F6A23B"/>
                </a:solidFill>
                <a:latin typeface="Malgun Gothic"/>
              </a:rPr>
              <a:t>실배포 = HyperCLOVA 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10561320" cy="137160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6A23B"/>
                </a:solidFill>
                <a:latin typeface="Malgun Gothic"/>
              </a:rPr>
              <a:t>정직하게:  </a:t>
            </a:r>
            <a:r>
              <a:rPr sz="1350" b="0">
                <a:solidFill>
                  <a:srgbClr val="EAF1FA"/>
                </a:solidFill>
                <a:latin typeface="Malgun Gothic"/>
              </a:rPr>
              <a:t>우리는 모델을 학습(파인튜닝)하지 않는다 — 검색·규칙·통계 기반이라 적은 데이터로도 동작.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97ADCA"/>
                </a:solidFill>
                <a:latin typeface="Malgun Gothic"/>
              </a:rPr>
              <a:t>데이터는 전부 공개·합성(개인정보 0), 전북은행 실제 공개 상품 포함 · 간이 정확도 100%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97ADCA"/>
                </a:solidFill>
                <a:latin typeface="Malgun Gothic"/>
              </a:rPr>
              <a:t>실배포 상용 모델은 HyperCLOVA X(JB–네이버클라우드 제휴) · 마이데이터 타행은 사후 모니터링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10  IMPACT · 기대 효과 (ROI)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막은 만큼, </a:t>
            </a:r>
            <a:r>
              <a:rPr sz="3400" b="1">
                <a:solidFill>
                  <a:srgbClr val="F6A23B"/>
                </a:solidFill>
                <a:latin typeface="Malgun Gothic"/>
              </a:rPr>
              <a:t>지킨 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3383280" cy="237744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보이스피싱 1건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6A23B"/>
                </a:solidFill>
                <a:latin typeface="Malgun Gothic"/>
              </a:rPr>
              <a:t>530만원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평균 피해 (2025 1Q · 경찰청·금감원)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377440"/>
            <a:ext cx="6949440" cy="2377440"/>
          </a:xfrm>
          <a:prstGeom prst="roundRect">
            <a:avLst/>
          </a:prstGeom>
          <a:solidFill>
            <a:srgbClr val="142A4A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2AA4E3"/>
                </a:solidFill>
                <a:latin typeface="Malgun Gothic"/>
              </a:rPr>
              <a:t>1건을 막을 때마다 동시에 절감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EAF1FA"/>
                </a:solidFill>
                <a:latin typeface="Malgun Gothic"/>
              </a:rPr>
              <a:t>· 고객의 노후자금 ₩530만원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EAF1FA"/>
                </a:solidFill>
                <a:latin typeface="Malgun Gothic"/>
              </a:rPr>
              <a:t>· JB의 FDS 분담 리스크(2024 가이드라인)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EAF1FA"/>
                </a:solidFill>
                <a:latin typeface="Malgun Gothic"/>
              </a:rPr>
              <a:t>· 민원·평판 비용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F6A23B"/>
                </a:solidFill>
                <a:latin typeface="Malgun Gothic"/>
              </a:rPr>
              <a:t>지방은행에게 이건 비용이 아니라 투자 — 포용금융·ESG 정합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6A23B"/>
                </a:solidFill>
                <a:latin typeface="Malgun Gothic"/>
              </a:rPr>
              <a:t>🛡  </a:t>
            </a:r>
            <a:r>
              <a:rPr sz="1400" b="0">
                <a:solidFill>
                  <a:srgbClr val="EAF1FA"/>
                </a:solidFill>
                <a:latin typeface="Malgun Gothic"/>
              </a:rPr>
              <a:t>점포가 떠난 자리, 24시간 비대면으로 지킨다.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320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97ADCA"/>
                </a:solidFill>
                <a:latin typeface="Malgun Gothic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A4E3"/>
                </a:solidFill>
                <a:latin typeface="Malgun Gothic"/>
              </a:rPr>
              <a:t>11  SCALE · 확장 제언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51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같은 엔진이 </a:t>
            </a:r>
            <a:r>
              <a:rPr sz="3400" b="1">
                <a:solidFill>
                  <a:srgbClr val="2AA4E3"/>
                </a:solidFill>
                <a:latin typeface="Malgun Gothic"/>
              </a:rPr>
              <a:t>사기방어를 넘어선다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7ADCA"/>
                </a:solidFill>
                <a:latin typeface="Malgun Gothic"/>
              </a:rPr>
              <a:t>3대 범용 엔진: 개인화 이상탐지 · 근거 RAG+가드레일 · 온프레미스 sLLM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2606040" cy="201168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자본시장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2AA4E3"/>
                </a:solidFill>
                <a:latin typeface="Malgun Gothic"/>
              </a:rPr>
              <a:t>불공정거래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시세조종·미공개정보 사전 포착 (JB자산운용·인베스트먼트)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743200"/>
            <a:ext cx="2606040" cy="201168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자금세탁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2AA4E3"/>
                </a:solidFill>
                <a:latin typeface="Malgun Gothic"/>
              </a:rPr>
              <a:t>AML / STR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의심거래보고 후보 자동 스크리닝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2743200"/>
            <a:ext cx="2606040" cy="201168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내부통제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2AA4E3"/>
                </a:solidFill>
                <a:latin typeface="Malgun Gothic"/>
              </a:rPr>
              <a:t>준법 자문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내규·규제 문서 기반 직원 Q&amp;A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2743200"/>
            <a:ext cx="2606040" cy="2011680"/>
          </a:xfrm>
          <a:prstGeom prst="roundRect">
            <a:avLst/>
          </a:prstGeom>
          <a:solidFill>
            <a:srgbClr val="10203D"/>
          </a:solidFill>
          <a:ln w="9525">
            <a:solidFill>
              <a:srgbClr val="2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27000"/>
          <a:lstStyle/>
          <a:p>
            <a:pPr algn="ctr"/>
            <a:r>
              <a:rPr sz="1200" b="1">
                <a:solidFill>
                  <a:srgbClr val="2AA4E3"/>
                </a:solidFill>
                <a:latin typeface="Malgun Gothic"/>
              </a:rPr>
              <a:t>여신·소상공인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2AA4E3"/>
                </a:solidFill>
                <a:latin typeface="Malgun Gothic"/>
              </a:rPr>
              <a:t>사기·자금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7ADCA"/>
                </a:solidFill>
                <a:latin typeface="Malgun Gothic"/>
              </a:rPr>
              <a:t>대출 이상탐지 / 사업자 현금흐름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26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6A23B"/>
                </a:solidFill>
                <a:latin typeface="Malgun Gothic"/>
              </a:rPr>
              <a:t>🛡  </a:t>
            </a:r>
            <a:r>
              <a:rPr sz="1400" b="0">
                <a:solidFill>
                  <a:srgbClr val="EAF1FA"/>
                </a:solidFill>
                <a:latin typeface="Malgun Gothic"/>
              </a:rPr>
              <a:t>“이 주체답지 않은 행동을 근거와 함께 잡는 엔진” — JB 전 계열로.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A6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</a:rPr>
              <a:t>막은 만큼, 지킨 돈.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6A23B"/>
                </a:solidFill>
                <a:latin typeface="Malgun Gothic"/>
              </a:rPr>
              <a:t>평생 곁에서, 어르신의 노후자금을 지킵니다.  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7ADCA"/>
                </a:solidFill>
                <a:latin typeface="Malgun Gothic"/>
              </a:rPr>
              <a:t>JB금융그룹 Fin:AI Challenge · 지정주제 1 개인 라이프케어 AI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